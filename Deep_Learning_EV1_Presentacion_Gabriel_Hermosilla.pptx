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82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73152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Imágenes con MLP · Fashion-MNIST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Hermosilla  ·  DLY0100  · 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80480" y="274320"/>
            <a:ext cx="2286000" cy="2286000"/>
          </a:xfrm>
          <a:prstGeom prst="ellipse">
            <a:avLst/>
          </a:prstGeom>
          <a:solidFill>
            <a:srgbClr val="0D5EAF">
              <a:alpha val="30000"/>
            </a:srgbClr>
          </a:solidFill>
          <a:ln w="12700">
            <a:solidFill>
              <a:srgbClr val="0D5EA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406640" y="1851660"/>
            <a:ext cx="1371600" cy="1371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1.1 · Carga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Preprocesamiento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Fashion-MNIST: 70.000 imágenes 28×28 px · 10 categorías de moda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4173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entrenamiento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21671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prueba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365760" y="2916936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48640" y="29169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29169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ropa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6674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48640" y="36667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36667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Píxeles por imagen (28×28)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29797"/>
            <a:ext cx="3685032" cy="536331"/>
          </a:xfrm>
          <a:prstGeom prst="rect">
            <a:avLst/>
          </a:prstGeom>
          <a:solidFill>
            <a:srgbClr val="E0F2F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02920" y="4526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Normalización: píxeles ÷ 255.0 → rango [0, 1]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convergencia del gradiente descendente</a:t>
            </a:r>
            <a:endParaRPr lang="en-US" sz="1050" dirty="0"/>
          </a:p>
        </p:txBody>
      </p:sp>
      <p:pic>
        <p:nvPicPr>
          <p:cNvPr id="24" name="Image 0" descr="/home/claude/nb_images/cell4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9319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1.2 · Funciones y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Modelo MLP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Multicapa (Perceptrón Multicapa) con TensorFlow/Keras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1732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nodos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(28×28 → vector)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103120"/>
            <a:ext cx="15087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ysDash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1417320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92608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Dense+ReLU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Activación: ReLU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103120"/>
            <a:ext cx="15087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ysDash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394960" y="1371600"/>
            <a:ext cx="141732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39496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30%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overfitting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2103120"/>
            <a:ext cx="15087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ysDash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315200" y="1371600"/>
            <a:ext cx="141732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31520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2011680"/>
            <a:ext cx="1417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por categoría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Parámetros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01568"/>
          <a:ext cx="8412480" cy="15361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 (Entrada)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784)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(Oculta)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128)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100,480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128)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(Salida)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(None, 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5E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101,770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1.1 · Configuración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 Hiperparámetros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justificada de parámetros clave de entrenamiento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2064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1463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Suficientes para convergencia sin sobreajuste según curvas de validación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54864" cy="868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946904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Aprendizaje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46904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1463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para Adam; pasos pequeños → convergencia estable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12064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2064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7744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entre velocidad computacional y calidad del gradiente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242316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800600" y="2423160"/>
            <a:ext cx="54864" cy="868680"/>
          </a:xfrm>
          <a:prstGeom prst="rect">
            <a:avLst/>
          </a:prstGeom>
          <a:solidFill>
            <a:srgbClr val="0D5EAF"/>
          </a:solidFill>
          <a:ln w="12700">
            <a:solidFill>
              <a:srgbClr val="0D5EA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946904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46904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468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Adaptativo por parámetro; robusto y rápido para MLPs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12064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(30%)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377440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Regularización: reduce overfitting apagando neuronas aleatoriamente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342900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4800600" y="342900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946904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46904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Cat. 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2280" y="3474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Adecuada para clasificación multiclase con etiquetas enteras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1.3 · Optimización con Dropout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del Modelo con Dropout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precisión y pérdida durante 15 épocas de entrenamiento</a:t>
            </a:r>
            <a:endParaRPr lang="en-US" sz="1300" dirty="0"/>
          </a:p>
        </p:txBody>
      </p:sp>
      <p:pic>
        <p:nvPicPr>
          <p:cNvPr id="6" name="Image 0" descr="/home/claude/nb_images/cell10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04674"/>
            <a:ext cx="8138160" cy="30301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02920" y="458114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Las curvas train/val convergen sin divergir → Dropout previene overfitting efectivamente  ·  Accuracy validación final: 88.4%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1.1 · Experimento Controlado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la Tasa de Aprendizaje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de un solo parámetro: LR = 0.001 (óptimo) vs LR = 0.05 (experimento)</a:t>
            </a:r>
            <a:endParaRPr lang="en-US" sz="1300" dirty="0"/>
          </a:p>
        </p:txBody>
      </p:sp>
      <p:pic>
        <p:nvPicPr>
          <p:cNvPr id="6" name="Image 0" descr="/home/claude/nb_images/cell13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8215532" cy="30589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4572000"/>
            <a:ext cx="40233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0D5EA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457200" y="459028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LR=0.001 → Accuracy: 88% · Loss estable ~0.32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4572000"/>
            <a:ext cx="4023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846320" y="459028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LR=0.05 → Accuracy: 52% · Loss inestable, oscila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1.4 · Comparación de Modelos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de Configuraciones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en datos de prueba — 10.000 imágenes nunca vistas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Óptimo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51460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Óptimo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LR=0.05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14173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81228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1228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LR=0.05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877824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502920" y="3803904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LR muy alto (0.05) provoca pasos de gradiente excesivos → el modelo oscila y no converge. LR=0.001 con Dropout es la configuración óptima.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1.4 · Métricas de Evaluación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Clase — Modelo Óptimo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F1-Score evaluados sobre 10.000 imágenes de prueba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425254"/>
              </p:ext>
            </p:extLst>
          </p:nvPr>
        </p:nvGraphicFramePr>
        <p:xfrm>
          <a:off x="501904" y="1554480"/>
          <a:ext cx="4893055" cy="3392422"/>
        </p:xfrm>
        <a:graphic>
          <a:graphicData uri="http://schemas.openxmlformats.org/drawingml/2006/table">
            <a:tbl>
              <a:tblPr/>
              <a:tblGrid>
                <a:gridCol w="978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8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Camiseta/Top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Suéter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Vestido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Zapatilla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Botín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80744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5669280" y="1371600"/>
            <a:ext cx="54864" cy="1005840"/>
          </a:xfrm>
          <a:prstGeom prst="rect">
            <a:avLst/>
          </a:prstGeom>
          <a:solidFill>
            <a:srgbClr val="0D5EAF"/>
          </a:solidFill>
          <a:ln w="12700">
            <a:solidFill>
              <a:srgbClr val="0D5EA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6"/>
          <p:cNvSpPr/>
          <p:nvPr/>
        </p:nvSpPr>
        <p:spPr>
          <a:xfrm>
            <a:off x="580644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1673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de los que predijo positivos son realmente positivos?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80644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5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0" y="251460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5669280" y="2514600"/>
            <a:ext cx="54864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80644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2816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de los positivos reales detectó el modelo?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0644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65760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5669280" y="365760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8064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0644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armónica entre Precision y Recall. Métrica balanceada.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0644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2·(P·R)/(P+R)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050866" y="4712677"/>
            <a:ext cx="2528668" cy="3093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6110654" y="4668598"/>
            <a:ext cx="24090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Global: 88%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IL 1.4 · Hallazgos Visuales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patrones de error por clase — eje Y: real · eje X: predicción</a:t>
            </a:r>
            <a:endParaRPr lang="en-US" sz="1300" dirty="0"/>
          </a:p>
        </p:txBody>
      </p:sp>
      <p:pic>
        <p:nvPicPr>
          <p:cNvPr id="6" name="Image 0" descr="/home/claude/nb_images/cell17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0" y="1462434"/>
            <a:ext cx="4972929" cy="34296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37160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5852160" y="1371600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98932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Pantalón, Sandalia y Bolso: F1 ≥ 97%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029968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5852160" y="2029968"/>
            <a:ext cx="54864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989320" y="20299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Botín y Zapatilla bien diferenciados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688336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5852160" y="2688336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989320" y="26883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Camisa (F1=0.67): confundida con Camiseta/Top y Abrigo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52160" y="3346704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4"/>
          <p:cNvSpPr/>
          <p:nvPr/>
        </p:nvSpPr>
        <p:spPr>
          <a:xfrm>
            <a:off x="5852160" y="3346704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5989320" y="33467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Suéter confundido con Abrigo (155 casos)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52160" y="4005072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94A3B8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5852160" y="4005072"/>
            <a:ext cx="54864" cy="548640"/>
          </a:xfrm>
          <a:prstGeom prst="rect">
            <a:avLst/>
          </a:prstGeom>
          <a:solidFill>
            <a:srgbClr val="0D5EAF"/>
          </a:solidFill>
          <a:ln w="12700">
            <a:solidFill>
              <a:srgbClr val="0D5EA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5989320" y="4005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Mejora: más datos de Camisa o data augmentation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· MLP · TensorFlow/Keras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51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efectivo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8745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MLP con ReLU+Softmax alcanzó 88% accuracy en 10.000 imágenes sin ver durante el entrenamiento.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251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910328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22392" y="1508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es esencial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8745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regularización, el modelo sobreajusta. Con Dropout=0.3 train/val convergen establemente.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251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5488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" y="2926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críticos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291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LR=0.001 vs LR=0.05 demuestra que una tasa de aprendizaje incorrecta impide la convergencia total.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251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910328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22392" y="2926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posibles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32918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supera MLP en imágenes. Data augmentation y ajuste de arquitectura mejorarían clase Camisa (F1=0.67).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787</Words>
  <Application>Microsoft Office PowerPoint</Application>
  <PresentationFormat>On-screen Show (16:9)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EV1 - Fashion-MNIST</dc:title>
  <dc:subject>PptxGenJS Presentation</dc:subject>
  <dc:creator>Gabriel Hermosilla</dc:creator>
  <cp:lastModifiedBy>GABRIEL EDUARDO HERMOSILLA GAJARDO</cp:lastModifiedBy>
  <cp:revision>3</cp:revision>
  <dcterms:created xsi:type="dcterms:W3CDTF">2026-05-02T14:19:16Z</dcterms:created>
  <dcterms:modified xsi:type="dcterms:W3CDTF">2026-05-02T14:45:14Z</dcterms:modified>
</cp:coreProperties>
</file>